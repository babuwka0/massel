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2" r:id="rId8"/>
    <p:sldId id="263" r:id="rId9"/>
    <p:sldId id="264" r:id="rId10"/>
    <p:sldId id="267" r:id="rId11"/>
    <p:sldId id="270" r:id="rId12"/>
    <p:sldId id="284" r:id="rId13"/>
    <p:sldId id="285" r:id="rId14"/>
    <p:sldId id="287" r:id="rId15"/>
    <p:sldId id="28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9" r:id="rId26"/>
    <p:sldId id="292" r:id="rId27"/>
    <p:sldId id="293" r:id="rId28"/>
    <p:sldId id="290" r:id="rId29"/>
    <p:sldId id="291" r:id="rId30"/>
    <p:sldId id="282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46" d="100"/>
          <a:sy n="46" d="100"/>
        </p:scale>
        <p:origin x="67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28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67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6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06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78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68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25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10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40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2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2184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500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9757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562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869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42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C624D-FE99-4AB7-9FAD-414D5742F596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EB45A3-F101-4A48-90E5-B06A70787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11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NUFORC/ufo-sighting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users/pyplot_tutorial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google/" TargetMode="External"/><Relationship Id="rId5" Type="http://schemas.openxmlformats.org/officeDocument/2006/relationships/hyperlink" Target="https://scikit-learn.org/stable/" TargetMode="External"/><Relationship Id="rId4" Type="http://schemas.openxmlformats.org/officeDocument/2006/relationships/hyperlink" Target="https://pandas.pydat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ru-RU" dirty="0"/>
            </a:br>
            <a:br>
              <a:rPr lang="ru-RU" dirty="0"/>
            </a:br>
            <a:r>
              <a:rPr lang="ru-RU" dirty="0"/>
              <a:t> 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 err="1">
                <a:solidFill>
                  <a:schemeClr val="accent2"/>
                </a:solidFill>
              </a:rPr>
              <a:t>Exploratory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 err="1">
                <a:solidFill>
                  <a:schemeClr val="accent2"/>
                </a:solidFill>
              </a:rPr>
              <a:t>DataAnalysis</a:t>
            </a:r>
            <a:r>
              <a:rPr lang="ru-RU" dirty="0">
                <a:solidFill>
                  <a:schemeClr val="accent2"/>
                </a:solidFill>
              </a:rPr>
              <a:t> (EDA)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ru-RU" dirty="0">
                <a:solidFill>
                  <a:schemeClr val="accent2"/>
                </a:solidFill>
              </a:rPr>
              <a:t>Разведочный анализ данных</a:t>
            </a:r>
            <a:r>
              <a:rPr lang="ru-RU" dirty="0"/>
              <a:t>.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dirty="0" err="1"/>
              <a:t>Массель</a:t>
            </a:r>
            <a:r>
              <a:rPr lang="ru-RU" sz="1800" dirty="0"/>
              <a:t> Алексей Геннадьевич</a:t>
            </a:r>
            <a:br>
              <a:rPr lang="ru-RU" sz="1800" dirty="0"/>
            </a:br>
            <a:r>
              <a:rPr lang="ru-RU" sz="1800" dirty="0"/>
              <a:t>к.т.н., </a:t>
            </a:r>
            <a:r>
              <a:rPr lang="ru-RU" sz="1800" dirty="0" err="1"/>
              <a:t>с.н.с</a:t>
            </a:r>
            <a:r>
              <a:rPr lang="ru-RU" sz="1800" dirty="0"/>
              <a:t>. отдела систем искусственного интеллекта в энергетике,</a:t>
            </a:r>
            <a:br>
              <a:rPr lang="ru-RU" sz="1800" dirty="0"/>
            </a:br>
            <a:r>
              <a:rPr lang="ru-RU" sz="1800" dirty="0"/>
              <a:t>Институт систем энергетики им. Л.А. Мелентьева СО РАН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092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>
                <a:solidFill>
                  <a:schemeClr val="accent2"/>
                </a:solidFill>
              </a:rPr>
              <a:t>Разведочный анализ данных (EDA) — один из первых и определяющих шагов проекта науки о данных, который приводит в движение весь проект.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75397"/>
            <a:ext cx="8596668" cy="3880773"/>
          </a:xfrm>
        </p:spPr>
        <p:txBody>
          <a:bodyPr>
            <a:normAutofit/>
          </a:bodyPr>
          <a:lstStyle/>
          <a:p>
            <a:r>
              <a:rPr lang="ru-RU" dirty="0"/>
              <a:t>Разведочный анализ данных (англ. </a:t>
            </a:r>
            <a:r>
              <a:rPr lang="ru-RU" dirty="0" err="1"/>
              <a:t>exploratory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analysis</a:t>
            </a:r>
            <a:r>
              <a:rPr lang="ru-RU" dirty="0"/>
              <a:t>, EDA) — анализ основных свойств данных, нахождение в них общих закономерностей, распределений и аномалий, построение начальных моделей, зачастую с использованием инструментов визуализации.</a:t>
            </a:r>
          </a:p>
          <a:p>
            <a:r>
              <a:rPr lang="ru-RU" dirty="0"/>
              <a:t>максимальное «проникновение» в данные,</a:t>
            </a:r>
          </a:p>
          <a:p>
            <a:r>
              <a:rPr lang="ru-RU" dirty="0"/>
              <a:t>выявление основных структур,</a:t>
            </a:r>
          </a:p>
          <a:p>
            <a:r>
              <a:rPr lang="ru-RU" dirty="0"/>
              <a:t>выбор наиболее важных переменных,</a:t>
            </a:r>
          </a:p>
          <a:p>
            <a:r>
              <a:rPr lang="ru-RU" dirty="0"/>
              <a:t>обнаружение отклонений и аномалий,</a:t>
            </a:r>
          </a:p>
          <a:p>
            <a:r>
              <a:rPr lang="ru-RU" dirty="0"/>
              <a:t>проверка основных гипотез,</a:t>
            </a:r>
          </a:p>
          <a:p>
            <a:r>
              <a:rPr lang="ru-RU" dirty="0"/>
              <a:t>разработка начальных моделей.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98" y="5478578"/>
            <a:ext cx="9695162" cy="13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неопределенны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54" y="463503"/>
            <a:ext cx="8253199" cy="618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95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47665"/>
            <a:ext cx="8596668" cy="4893697"/>
          </a:xfrm>
        </p:spPr>
        <p:txBody>
          <a:bodyPr/>
          <a:lstStyle/>
          <a:p>
            <a:r>
              <a:rPr lang="ru-RU" dirty="0"/>
              <a:t>Основные средства разведочного анализа — изучение вероятностных распределений переменных, построение и анализ корреляционных матриц, факторный анализ, дискриминантный анализ, многомерное </a:t>
            </a:r>
            <a:r>
              <a:rPr lang="ru-RU" dirty="0" err="1"/>
              <a:t>шкалирование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6" y="2780619"/>
            <a:ext cx="78771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0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586740"/>
            <a:ext cx="8596668" cy="1320800"/>
          </a:xfrm>
        </p:spPr>
        <p:txBody>
          <a:bodyPr/>
          <a:lstStyle/>
          <a:p>
            <a:r>
              <a:rPr lang="ru-RU" dirty="0"/>
              <a:t>Одномерный анализ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24941"/>
            <a:ext cx="8596668" cy="4616422"/>
          </a:xfrm>
        </p:spPr>
        <p:txBody>
          <a:bodyPr>
            <a:normAutofit/>
          </a:bodyPr>
          <a:lstStyle/>
          <a:p>
            <a:r>
              <a:rPr lang="ru-RU" sz="2400" dirty="0"/>
              <a:t>Как следует из названия, одномерный анализ — это когда анализ переменных выполняется по отдельности. </a:t>
            </a:r>
          </a:p>
          <a:p>
            <a:r>
              <a:rPr lang="ru-RU" sz="2400" dirty="0"/>
              <a:t>Независимо от того, является ли переменная категориальной или непрерывной, если мы анализируем ее независимо от других переменных, то это называется одномерным анализом.</a:t>
            </a:r>
          </a:p>
          <a:p>
            <a:r>
              <a:rPr lang="ru-RU" sz="2400" dirty="0"/>
              <a:t>Вот некоторые из основных методов одномерного анализа:</a:t>
            </a:r>
          </a:p>
          <a:p>
            <a:pPr lvl="1"/>
            <a:r>
              <a:rPr lang="ru-RU" sz="2000" dirty="0"/>
              <a:t>Основные тенденции;</a:t>
            </a:r>
          </a:p>
          <a:p>
            <a:pPr lvl="1"/>
            <a:r>
              <a:rPr lang="ru-RU" sz="2000" dirty="0"/>
              <a:t>Дисперсия;</a:t>
            </a:r>
          </a:p>
          <a:p>
            <a:pPr lvl="1"/>
            <a:r>
              <a:rPr lang="ru-RU" sz="2000" dirty="0"/>
              <a:t>Визуализации (блоковые диаграммы, гистограммы и т. д.)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50351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Двумерный анализ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15441"/>
            <a:ext cx="8596668" cy="4425922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Двумерный анализ относится к изучению взаимосвязи между любыми двумя переменными в наборе данных. </a:t>
            </a:r>
          </a:p>
          <a:p>
            <a:r>
              <a:rPr lang="ru-RU" sz="2400" dirty="0"/>
              <a:t>Это может быть связь между любыми двумя переменными‑предикторами или с целевой переменной. </a:t>
            </a:r>
          </a:p>
          <a:p>
            <a:r>
              <a:rPr lang="ru-RU" sz="2400" dirty="0"/>
              <a:t>Такие отношения, если они существуют, могут вызвать проблемы во время разработки модели, например, шум.</a:t>
            </a:r>
          </a:p>
          <a:p>
            <a:pPr lvl="1"/>
            <a:r>
              <a:rPr lang="ru-RU" sz="2000" dirty="0"/>
              <a:t>Некоторые из методов, используемых для двумерного анализа:</a:t>
            </a:r>
          </a:p>
          <a:p>
            <a:pPr lvl="2"/>
            <a:r>
              <a:rPr lang="ru-RU" sz="1800" dirty="0"/>
              <a:t>Диаграммы рассеяния;</a:t>
            </a:r>
          </a:p>
          <a:p>
            <a:pPr lvl="2"/>
            <a:r>
              <a:rPr lang="ru-RU" sz="1800" dirty="0"/>
              <a:t>Регрессионный анализ;</a:t>
            </a:r>
          </a:p>
          <a:p>
            <a:pPr lvl="2"/>
            <a:r>
              <a:rPr lang="ru-RU" sz="1800" dirty="0"/>
              <a:t>Корреляционный анализ.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273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Оценка и анализ типов данных/</a:t>
            </a:r>
            <a:br>
              <a:rPr lang="ru-RU" dirty="0">
                <a:solidFill>
                  <a:schemeClr val="accent2"/>
                </a:solidFill>
              </a:rPr>
            </a:br>
            <a:r>
              <a:rPr lang="ru-RU" dirty="0">
                <a:solidFill>
                  <a:schemeClr val="accent2"/>
                </a:solidFill>
              </a:rPr>
              <a:t>Чистка и заполнение пропусков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443" y="2050574"/>
            <a:ext cx="7943702" cy="16908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97" y="3861594"/>
            <a:ext cx="55721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7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Одномерный анализ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580" y="2160588"/>
            <a:ext cx="5482877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3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Диаграмма рассеивания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82" y="1356552"/>
            <a:ext cx="6682141" cy="500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8240" y="1690688"/>
            <a:ext cx="10515600" cy="4351338"/>
          </a:xfrm>
        </p:spPr>
        <p:txBody>
          <a:bodyPr>
            <a:normAutofit/>
          </a:bodyPr>
          <a:lstStyle/>
          <a:p>
            <a:r>
              <a:rPr lang="ru-RU" b="1" dirty="0" err="1"/>
              <a:t>sklearn</a:t>
            </a:r>
            <a:r>
              <a:rPr lang="ru-RU" b="1" dirty="0"/>
              <a:t> </a:t>
            </a:r>
            <a:r>
              <a:rPr lang="ru-RU" dirty="0"/>
              <a:t>— библиотека, алгоритмов машинного обучения, она понадобится нам в дальнейшем для классификации исследуемых данных,</a:t>
            </a:r>
          </a:p>
          <a:p>
            <a:r>
              <a:rPr lang="ru-RU" b="1" dirty="0" err="1"/>
              <a:t>matplotlib</a:t>
            </a:r>
            <a:r>
              <a:rPr lang="ru-RU" b="1" dirty="0"/>
              <a:t> </a:t>
            </a:r>
            <a:r>
              <a:rPr lang="ru-RU" dirty="0"/>
              <a:t>— библиотека для построения графиков,</a:t>
            </a:r>
          </a:p>
          <a:p>
            <a:r>
              <a:rPr lang="ru-RU" b="1" dirty="0" err="1"/>
              <a:t>pandas</a:t>
            </a:r>
            <a:r>
              <a:rPr lang="ru-RU" dirty="0"/>
              <a:t> — библиотека для обработки и анализа данных. Будем использовать для первичной обработки данных,</a:t>
            </a:r>
          </a:p>
          <a:p>
            <a:r>
              <a:rPr lang="ru-RU" b="1" dirty="0" err="1"/>
              <a:t>numpy</a:t>
            </a:r>
            <a:r>
              <a:rPr lang="ru-RU" dirty="0"/>
              <a:t> — математическая библиотека с поддержкой многомерных массивов,</a:t>
            </a:r>
          </a:p>
        </p:txBody>
      </p:sp>
    </p:spTree>
    <p:extLst>
      <p:ext uri="{BB962C8B-B14F-4D97-AF65-F5344CB8AC3E}">
        <p14:creationId xmlns:p14="http://schemas.microsoft.com/office/powerpoint/2010/main" val="389267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добрались до непосредственно данных. Для чтения файла с таблицей  используем метод </a:t>
            </a:r>
            <a:r>
              <a:rPr lang="ru-RU" b="1" dirty="0" err="1"/>
              <a:t>read_csv</a:t>
            </a:r>
            <a:r>
              <a:rPr lang="ru-RU" dirty="0"/>
              <a:t> модуля </a:t>
            </a:r>
            <a:r>
              <a:rPr lang="ru-RU" b="1" dirty="0" err="1"/>
              <a:t>pd</a:t>
            </a:r>
            <a:r>
              <a:rPr lang="ru-RU" dirty="0"/>
              <a:t>. На вход функции подаем имя </a:t>
            </a:r>
            <a:r>
              <a:rPr lang="ru-RU" b="1" dirty="0" err="1"/>
              <a:t>csv</a:t>
            </a:r>
            <a:r>
              <a:rPr lang="ru-RU" dirty="0"/>
              <a:t> файла, и чтобы подавить предупреждения при чтении файла, задаем параметры </a:t>
            </a:r>
            <a:r>
              <a:rPr lang="ru-RU" b="1" dirty="0" err="1"/>
              <a:t>escapechar</a:t>
            </a:r>
            <a:r>
              <a:rPr lang="ru-RU" dirty="0"/>
              <a:t> и </a:t>
            </a:r>
            <a:r>
              <a:rPr lang="ru-RU" b="1" dirty="0" err="1"/>
              <a:t>low_memory</a:t>
            </a:r>
            <a:endParaRPr lang="ru-RU" b="1" dirty="0"/>
          </a:p>
          <a:p>
            <a:endParaRPr lang="ru-RU" b="1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('./scrubbed.csv', </a:t>
            </a:r>
            <a:r>
              <a:rPr lang="en-US" dirty="0" err="1"/>
              <a:t>escapechar</a:t>
            </a:r>
            <a:r>
              <a:rPr lang="en-US" dirty="0"/>
              <a:t>='`', </a:t>
            </a:r>
            <a:r>
              <a:rPr lang="en-US" dirty="0" err="1"/>
              <a:t>low_memory</a:t>
            </a:r>
            <a:r>
              <a:rPr lang="en-US" dirty="0"/>
              <a:t>=False)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7767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5406BD3-4243-465C-84F2-B3C8C7C47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967" y="0"/>
            <a:ext cx="8596668" cy="1596764"/>
          </a:xfrm>
        </p:spPr>
        <p:txBody>
          <a:bodyPr/>
          <a:lstStyle/>
          <a:p>
            <a:pPr marL="0" indent="0" fontAlgn="base">
              <a:lnSpc>
                <a:spcPts val="1530"/>
              </a:lnSpc>
              <a:spcAft>
                <a:spcPts val="800"/>
              </a:spcAft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7000"/>
              </a:lnSpc>
              <a:spcAft>
                <a:spcPts val="48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3C404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8AB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3C4043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pd</a:t>
            </a:r>
            <a:r>
              <a:rPr lang="en-US" sz="1800" dirty="0" err="1">
                <a:solidFill>
                  <a:srgbClr val="008AB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read_csv</a:t>
            </a:r>
            <a:r>
              <a:rPr lang="en-US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BB232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‘</a:t>
            </a:r>
            <a:r>
              <a:rPr lang="ru-RU" sz="1800" dirty="0">
                <a:solidFill>
                  <a:srgbClr val="BB232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указываем путь</a:t>
            </a:r>
            <a:r>
              <a:rPr lang="en-US" sz="1800" dirty="0">
                <a:solidFill>
                  <a:srgbClr val="BB232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7000"/>
              </a:lnSpc>
              <a:spcAft>
                <a:spcPts val="48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 err="1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ru-RU" sz="1800" dirty="0" err="1">
                <a:solidFill>
                  <a:srgbClr val="008AB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ru-RU" sz="1800" dirty="0" err="1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head</a:t>
            </a:r>
            <a:r>
              <a:rPr lang="ru-RU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>
                <a:solidFill>
                  <a:srgbClr val="666666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ru-RU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) </a:t>
            </a:r>
            <a:r>
              <a:rPr lang="en-US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lang="ru-RU" sz="1800" dirty="0">
                <a:solidFill>
                  <a:srgbClr val="3C4043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определяем заголовки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E50DD4-90B9-47A2-9F66-8D3E22F1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10" y="1893436"/>
            <a:ext cx="10882747" cy="427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8203C2BC-FD19-4B68-B5F9-27619DA0D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9411" y="939558"/>
            <a:ext cx="5761278" cy="4978883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895095D-1CA8-416C-B031-6DB309D9E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60240" y="816638"/>
            <a:ext cx="2087366" cy="73866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df</a:t>
            </a:r>
            <a:r>
              <a:rPr kumimoji="0" lang="ru-RU" altLang="ru-RU" sz="4800" b="0" i="0" u="none" strike="noStrike" cap="none" normalizeH="0" baseline="0" dirty="0">
                <a:ln>
                  <a:noFill/>
                </a:ln>
                <a:solidFill>
                  <a:srgbClr val="008ABC"/>
                </a:solidFill>
                <a:effectLst/>
                <a:latin typeface="inherit"/>
              </a:rPr>
              <a:t>.</a:t>
            </a:r>
            <a:r>
              <a:rPr kumimoji="0" lang="ru-RU" altLang="ru-RU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info</a:t>
            </a:r>
            <a:r>
              <a:rPr kumimoji="0" lang="ru-RU" altLang="ru-RU" sz="4800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  <a:latin typeface="inherit"/>
              </a:rPr>
              <a:t>()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07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035D0D6-8AFF-460A-9C9A-031DDBEEC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E094BF-BC31-44AA-9443-C7FD42E7D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4737" y="206206"/>
            <a:ext cx="9369491" cy="1954381"/>
          </a:xfrm>
          <a:prstGeom prst="rect">
            <a:avLst/>
          </a:prstGeom>
          <a:solidFill>
            <a:srgbClr val="EFF0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Команда </a:t>
            </a:r>
            <a:r>
              <a:rPr kumimoji="0" lang="ru-RU" altLang="ru-RU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df.describe</a:t>
            </a:r>
            <a:r>
              <a:rPr kumimoji="0" lang="ru-RU" alt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()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в библиотеке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Pandas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используется для получения сводной статистики числовых данных в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DataFrame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. Эта команда возвращает таблицу, содержащую основную статистику по каждому числовому столбцу, такую как среднее значение, медиана, минимальное и максимальное значения, стандартное отклонение и квартили.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Вот как она работает: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df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это объект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DataFrame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, содержащий ваши данные.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.</a:t>
            </a:r>
            <a:r>
              <a:rPr kumimoji="0" lang="ru-RU" altLang="ru-RU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describe</a:t>
            </a:r>
            <a:r>
              <a:rPr kumimoji="0" lang="ru-RU" alt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()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метод, который рассчитывает и возвращает основные статистические показатели для каждого числового столбца.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CD0E06-E0A8-44AD-B9EE-17F5AD5D6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4" y="2304960"/>
            <a:ext cx="10657231" cy="359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93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E0570-56E2-43C2-9041-F65584CF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C41442-B83C-4A4C-A2D8-3CB93BBF9A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437" y="609600"/>
            <a:ext cx="9577836" cy="4924425"/>
          </a:xfrm>
          <a:prstGeom prst="rect">
            <a:avLst/>
          </a:prstGeom>
          <a:solidFill>
            <a:srgbClr val="EFF0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Основные метрики, предоставляемые методом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describe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()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count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количество ненулевых значений.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mean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среднее арифметическое.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std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стандартное отклонение.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min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минимальное значение.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25%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,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50%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,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75%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процентили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(квартили).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max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: максимальное значение.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Метод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describe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B Sans Text Mono"/>
              </a:rPr>
              <a:t>()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 полезен для быстрого ознакомления с основными характеристиками ваших числовых данных.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603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демонстрации возможностей исследуем простой набор данных с </a:t>
            </a:r>
            <a:r>
              <a:rPr lang="ru-RU" dirty="0">
                <a:hlinkClick r:id="rId2"/>
              </a:rPr>
              <a:t>информацией о наблюдениях НЛО</a:t>
            </a:r>
            <a:r>
              <a:rPr lang="ru-RU" dirty="0"/>
              <a:t>. Наша цель будет не получить исчерпывающие ответы на главный вопрос жизни, вселенной и всего такого, а показать простоту обработки достаточно большого объема данных средствами </a:t>
            </a:r>
            <a:r>
              <a:rPr lang="ru-RU" dirty="0" err="1"/>
              <a:t>Python</a:t>
            </a:r>
            <a:r>
              <a:rPr lang="ru-RU" dirty="0"/>
              <a:t>. Собственно, на месте НЛО могла быть любая таблица.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848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с наблюдениями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ru-RU" dirty="0" err="1"/>
              <a:t>datetime</a:t>
            </a:r>
            <a:r>
              <a:rPr lang="ru-RU" dirty="0"/>
              <a:t> — дата появления объекта</a:t>
            </a:r>
          </a:p>
          <a:p>
            <a:pPr lvl="1"/>
            <a:r>
              <a:rPr lang="ru-RU" dirty="0" err="1"/>
              <a:t>city</a:t>
            </a:r>
            <a:r>
              <a:rPr lang="ru-RU" dirty="0"/>
              <a:t> — город в котором появился объект</a:t>
            </a:r>
          </a:p>
          <a:p>
            <a:pPr lvl="1"/>
            <a:r>
              <a:rPr lang="ru-RU" dirty="0" err="1"/>
              <a:t>state</a:t>
            </a:r>
            <a:r>
              <a:rPr lang="ru-RU" dirty="0"/>
              <a:t> — штат</a:t>
            </a:r>
          </a:p>
          <a:p>
            <a:pPr lvl="1"/>
            <a:r>
              <a:rPr lang="ru-RU" dirty="0" err="1"/>
              <a:t>country</a:t>
            </a:r>
            <a:r>
              <a:rPr lang="ru-RU" dirty="0"/>
              <a:t> — страна</a:t>
            </a:r>
          </a:p>
          <a:p>
            <a:pPr lvl="1"/>
            <a:r>
              <a:rPr lang="en-US" dirty="0"/>
              <a:t>D</a:t>
            </a:r>
            <a:r>
              <a:rPr lang="ru-RU" dirty="0" err="1"/>
              <a:t>uration</a:t>
            </a:r>
            <a:r>
              <a:rPr lang="ru-RU" dirty="0"/>
              <a:t> (</a:t>
            </a:r>
            <a:r>
              <a:rPr lang="ru-RU" dirty="0" err="1"/>
              <a:t>seconds</a:t>
            </a:r>
            <a:r>
              <a:rPr lang="ru-RU" dirty="0"/>
              <a:t>) — время на которое появился объект в секундах</a:t>
            </a:r>
          </a:p>
          <a:p>
            <a:pPr lvl="1"/>
            <a:r>
              <a:rPr lang="ru-RU" dirty="0" err="1"/>
              <a:t>duration</a:t>
            </a:r>
            <a:r>
              <a:rPr lang="ru-RU" dirty="0"/>
              <a:t> (</a:t>
            </a:r>
            <a:r>
              <a:rPr lang="ru-RU" dirty="0" err="1"/>
              <a:t>hours</a:t>
            </a:r>
            <a:r>
              <a:rPr lang="ru-RU" dirty="0"/>
              <a:t>/</a:t>
            </a:r>
            <a:r>
              <a:rPr lang="ru-RU" dirty="0" err="1"/>
              <a:t>min</a:t>
            </a:r>
            <a:r>
              <a:rPr lang="ru-RU" dirty="0"/>
              <a:t>) — время на которое появился объект в часах/минутах</a:t>
            </a:r>
          </a:p>
          <a:p>
            <a:pPr lvl="1"/>
            <a:r>
              <a:rPr lang="ru-RU" dirty="0" err="1"/>
              <a:t>shape</a:t>
            </a:r>
            <a:r>
              <a:rPr lang="ru-RU" dirty="0"/>
              <a:t> — форма объекта</a:t>
            </a:r>
          </a:p>
          <a:p>
            <a:pPr lvl="1"/>
            <a:r>
              <a:rPr lang="ru-RU" dirty="0" err="1"/>
              <a:t>comments</a:t>
            </a:r>
            <a:r>
              <a:rPr lang="ru-RU" dirty="0"/>
              <a:t> — </a:t>
            </a:r>
            <a:r>
              <a:rPr lang="ru-RU" dirty="0" err="1"/>
              <a:t>коментарий</a:t>
            </a:r>
            <a:endParaRPr lang="ru-RU" dirty="0"/>
          </a:p>
          <a:p>
            <a:pPr lvl="1"/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posted</a:t>
            </a:r>
            <a:r>
              <a:rPr lang="ru-RU" dirty="0"/>
              <a:t> — дата публикации</a:t>
            </a:r>
          </a:p>
          <a:p>
            <a:pPr lvl="1"/>
            <a:r>
              <a:rPr lang="ru-RU" dirty="0" err="1"/>
              <a:t>latitude</a:t>
            </a:r>
            <a:r>
              <a:rPr lang="ru-RU" dirty="0"/>
              <a:t> — широта</a:t>
            </a:r>
          </a:p>
          <a:p>
            <a:pPr lvl="1"/>
            <a:r>
              <a:rPr lang="ru-RU" dirty="0" err="1"/>
              <a:t>longitude</a:t>
            </a:r>
            <a:r>
              <a:rPr lang="ru-RU" dirty="0"/>
              <a:t> — долгота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274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https://matplotlib.org/users/pyplot_tutorial.html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country_count</a:t>
            </a:r>
            <a:r>
              <a:rPr lang="en-US" dirty="0"/>
              <a:t> = </a:t>
            </a:r>
            <a:r>
              <a:rPr lang="en-US" dirty="0" err="1"/>
              <a:t>pd.value_counts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['country'].values, sort=True) </a:t>
            </a:r>
            <a:endParaRPr lang="ru-RU" dirty="0"/>
          </a:p>
          <a:p>
            <a:r>
              <a:rPr lang="en-US" dirty="0" err="1"/>
              <a:t>country_count_keys</a:t>
            </a:r>
            <a:r>
              <a:rPr lang="en-US" dirty="0"/>
              <a:t>, </a:t>
            </a:r>
            <a:r>
              <a:rPr lang="en-US" dirty="0" err="1"/>
              <a:t>country_count_values</a:t>
            </a:r>
            <a:r>
              <a:rPr lang="en-US" dirty="0"/>
              <a:t> = </a:t>
            </a:r>
            <a:r>
              <a:rPr lang="en-US" dirty="0" err="1"/>
              <a:t>dict_sort</a:t>
            </a:r>
            <a:r>
              <a:rPr lang="en-US" dirty="0"/>
              <a:t>(</a:t>
            </a:r>
            <a:r>
              <a:rPr lang="en-US" dirty="0" err="1"/>
              <a:t>dict</a:t>
            </a:r>
            <a:r>
              <a:rPr lang="en-US" dirty="0"/>
              <a:t>(</a:t>
            </a:r>
            <a:r>
              <a:rPr lang="en-US" dirty="0" err="1"/>
              <a:t>country_count</a:t>
            </a:r>
            <a:r>
              <a:rPr lang="en-US" dirty="0"/>
              <a:t>))  </a:t>
            </a:r>
            <a:endParaRPr lang="ru-RU" dirty="0"/>
          </a:p>
          <a:p>
            <a:r>
              <a:rPr lang="en-US" dirty="0"/>
              <a:t>TOP_COUNTRY =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country_count_keys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 err="1"/>
              <a:t>plt.title</a:t>
            </a:r>
            <a:r>
              <a:rPr lang="en-US" dirty="0"/>
              <a:t>('</a:t>
            </a:r>
            <a:r>
              <a:rPr lang="ru-RU" dirty="0"/>
              <a:t>Страны, где больше всего наблюдений', </a:t>
            </a:r>
            <a:r>
              <a:rPr lang="en-US" dirty="0" err="1"/>
              <a:t>fontsize</a:t>
            </a:r>
            <a:r>
              <a:rPr lang="en-US" dirty="0"/>
              <a:t>=PLOT_LABEL_FONT_SIZE) </a:t>
            </a:r>
            <a:endParaRPr lang="ru-RU" dirty="0"/>
          </a:p>
          <a:p>
            <a:r>
              <a:rPr lang="en-US" dirty="0" err="1"/>
              <a:t>plt.bar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(TOP_COUNTRY), </a:t>
            </a:r>
            <a:r>
              <a:rPr lang="en-US" dirty="0" err="1"/>
              <a:t>country_count_values</a:t>
            </a:r>
            <a:r>
              <a:rPr lang="en-US" dirty="0"/>
              <a:t>, color=</a:t>
            </a:r>
            <a:r>
              <a:rPr lang="en-US" dirty="0" err="1"/>
              <a:t>getColors</a:t>
            </a:r>
            <a:r>
              <a:rPr lang="en-US" dirty="0"/>
              <a:t>(TOP_COUNTRY))</a:t>
            </a:r>
            <a:r>
              <a:rPr lang="ru-RU" dirty="0"/>
              <a:t> /</a:t>
            </a:r>
            <a:r>
              <a:rPr lang="ru-RU" dirty="0">
                <a:solidFill>
                  <a:schemeClr val="accent6"/>
                </a:solidFill>
              </a:rPr>
              <a:t>метод построения </a:t>
            </a:r>
            <a:r>
              <a:rPr lang="ru-RU" dirty="0" err="1">
                <a:solidFill>
                  <a:schemeClr val="accent6"/>
                </a:solidFill>
              </a:rPr>
              <a:t>гистаграмм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en-US" dirty="0" err="1"/>
              <a:t>plt.xticks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(TOP_COUNTRY), </a:t>
            </a:r>
            <a:r>
              <a:rPr lang="en-US" dirty="0" err="1"/>
              <a:t>country_count_keys</a:t>
            </a:r>
            <a:r>
              <a:rPr lang="en-US" dirty="0"/>
              <a:t>, rotation=0, </a:t>
            </a:r>
            <a:r>
              <a:rPr lang="en-US" dirty="0" err="1"/>
              <a:t>fontsize</a:t>
            </a:r>
            <a:r>
              <a:rPr lang="en-US" dirty="0"/>
              <a:t>=12)</a:t>
            </a:r>
            <a:endParaRPr lang="ru-RU" dirty="0"/>
          </a:p>
          <a:p>
            <a:r>
              <a:rPr lang="en-US" dirty="0" err="1"/>
              <a:t>plt.yticks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=PLOT_LABEL_FONT_SIZE) </a:t>
            </a:r>
            <a:r>
              <a:rPr lang="en-US" dirty="0" err="1"/>
              <a:t>plt.ylabel</a:t>
            </a:r>
            <a:r>
              <a:rPr lang="en-US" dirty="0"/>
              <a:t>('</a:t>
            </a:r>
            <a:r>
              <a:rPr lang="ru-RU" dirty="0"/>
              <a:t>Количество наблюдений', </a:t>
            </a:r>
            <a:r>
              <a:rPr lang="en-US" dirty="0" err="1"/>
              <a:t>fontsize</a:t>
            </a:r>
            <a:r>
              <a:rPr lang="en-US" dirty="0"/>
              <a:t>=PLOT_LABEL_FONT_SIZE) </a:t>
            </a:r>
            <a:r>
              <a:rPr lang="en-US" dirty="0" err="1"/>
              <a:t>plt.show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717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https://habrastorage.org/webt/g0/tn/an/g0tnandj9sjf3kl9-6s-giv2mbs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97" y="2338680"/>
            <a:ext cx="9603388" cy="37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49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Частота появления по месяцам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MONTH_COUNT = [0,0,0,0,0,0,0,0,0,0,0,0] </a:t>
            </a:r>
            <a:endParaRPr lang="ru-RU" dirty="0"/>
          </a:p>
          <a:p>
            <a:r>
              <a:rPr lang="en-US" dirty="0"/>
              <a:t>MONTH_LABEL = ['</a:t>
            </a:r>
            <a:r>
              <a:rPr lang="ru-RU" dirty="0"/>
              <a:t>Январь', 'Февраль', 'Март', 'Апрель', 'Май', 'Июнь', 'Июль', 'Август', 'Сентябрь' ,'Октябрь' ,'Ноябрь' ,'Декабрь'] 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datetime</a:t>
            </a:r>
            <a:r>
              <a:rPr lang="en-US" dirty="0"/>
              <a:t>']: </a:t>
            </a:r>
            <a:endParaRPr lang="ru-RU" dirty="0"/>
          </a:p>
          <a:p>
            <a:pPr lvl="1"/>
            <a:r>
              <a:rPr lang="en-US" dirty="0" err="1"/>
              <a:t>m,d,y_t</a:t>
            </a:r>
            <a:r>
              <a:rPr lang="en-US" dirty="0"/>
              <a:t> = </a:t>
            </a:r>
            <a:r>
              <a:rPr lang="en-US" dirty="0" err="1"/>
              <a:t>i.split</a:t>
            </a:r>
            <a:r>
              <a:rPr lang="en-US" dirty="0"/>
              <a:t>('/')</a:t>
            </a:r>
            <a:endParaRPr lang="ru-RU" dirty="0"/>
          </a:p>
          <a:p>
            <a:pPr lvl="1"/>
            <a:r>
              <a:rPr lang="en-US" dirty="0"/>
              <a:t>MONTH_COUNT[</a:t>
            </a:r>
            <a:r>
              <a:rPr lang="en-US" dirty="0" err="1"/>
              <a:t>int</a:t>
            </a:r>
            <a:r>
              <a:rPr lang="en-US" dirty="0"/>
              <a:t>(m)-1] = MONTH_COUNT[</a:t>
            </a:r>
            <a:r>
              <a:rPr lang="en-US" dirty="0" err="1"/>
              <a:t>int</a:t>
            </a:r>
            <a:r>
              <a:rPr lang="en-US" dirty="0"/>
              <a:t>(m)-1] + 1</a:t>
            </a:r>
            <a:endParaRPr lang="ru-RU" dirty="0"/>
          </a:p>
          <a:p>
            <a:pPr marL="457200" lvl="1" indent="0">
              <a:buNone/>
            </a:pPr>
            <a:r>
              <a:rPr lang="en-US" dirty="0" err="1"/>
              <a:t>plt.bar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(12), MONTH_COUNT, color=</a:t>
            </a:r>
            <a:r>
              <a:rPr lang="en-US" dirty="0" err="1"/>
              <a:t>getColors</a:t>
            </a:r>
            <a:r>
              <a:rPr lang="en-US" dirty="0"/>
              <a:t>(12)) </a:t>
            </a:r>
            <a:r>
              <a:rPr lang="en-US" dirty="0" err="1"/>
              <a:t>plt.xticks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(12), MONTH_LABEL, rotation=90, </a:t>
            </a:r>
            <a:r>
              <a:rPr lang="en-US" dirty="0" err="1"/>
              <a:t>fontsize</a:t>
            </a:r>
            <a:r>
              <a:rPr lang="en-US" dirty="0"/>
              <a:t>=PLOT_LABEL_FONT_SIZE)</a:t>
            </a:r>
            <a:endParaRPr lang="ru-RU" dirty="0"/>
          </a:p>
          <a:p>
            <a:pPr marL="457200" lvl="1" indent="0">
              <a:buNone/>
            </a:pPr>
            <a:r>
              <a:rPr lang="en-US" dirty="0" err="1"/>
              <a:t>plt.ylabel</a:t>
            </a:r>
            <a:r>
              <a:rPr lang="en-US" dirty="0"/>
              <a:t>('</a:t>
            </a:r>
            <a:r>
              <a:rPr lang="ru-RU" dirty="0"/>
              <a:t>Частота появления', </a:t>
            </a:r>
            <a:r>
              <a:rPr lang="en-US" dirty="0" err="1"/>
              <a:t>fontsize</a:t>
            </a:r>
            <a:r>
              <a:rPr lang="en-US" dirty="0"/>
              <a:t>=PLOT_LABEL_FONT_SIZE) </a:t>
            </a:r>
            <a:r>
              <a:rPr lang="en-US" dirty="0" err="1"/>
              <a:t>plt.yticks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=PLOT_LABEL_FONT_SIZE) </a:t>
            </a:r>
            <a:r>
              <a:rPr lang="en-US" dirty="0" err="1"/>
              <a:t>plt.title</a:t>
            </a:r>
            <a:r>
              <a:rPr lang="en-US" dirty="0"/>
              <a:t>('</a:t>
            </a:r>
            <a:r>
              <a:rPr lang="ru-RU" dirty="0"/>
              <a:t>Частота появления объектов по месяцам', </a:t>
            </a:r>
            <a:r>
              <a:rPr lang="en-US" dirty="0" err="1"/>
              <a:t>fontsize</a:t>
            </a:r>
            <a:r>
              <a:rPr lang="en-US" dirty="0"/>
              <a:t>=PLOT_LABEL_FONT_SIZE) </a:t>
            </a:r>
            <a:endParaRPr lang="ru-RU" dirty="0"/>
          </a:p>
          <a:p>
            <a:pPr marL="457200" lvl="1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095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Частота появления по месяцам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20" y="1887971"/>
            <a:ext cx="9345486" cy="4351338"/>
          </a:xfrm>
        </p:spPr>
      </p:pic>
    </p:spTree>
    <p:extLst>
      <p:ext uri="{BB962C8B-B14F-4D97-AF65-F5344CB8AC3E}">
        <p14:creationId xmlns:p14="http://schemas.microsoft.com/office/powerpoint/2010/main" val="349203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2025731"/>
            <a:ext cx="9753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shapes_type_count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 =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pd.value_counts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df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'shape'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].values) </a:t>
            </a:r>
            <a:endParaRPr lang="ru-RU" b="0" i="0" dirty="0">
              <a:solidFill>
                <a:srgbClr val="383A42"/>
              </a:solidFill>
              <a:effectLst/>
              <a:latin typeface="Menl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shapes_type_count_keys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shapes_count_values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 =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dict_sort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dict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shapes_type_count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)) OBJECT_COUNT =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len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shapes_type_count_keys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ru-RU" b="0" i="0" dirty="0">
              <a:solidFill>
                <a:srgbClr val="383A42"/>
              </a:solidFill>
              <a:effectLst/>
              <a:latin typeface="Menl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plt.title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ru-RU" b="0" i="0" dirty="0">
                <a:solidFill>
                  <a:srgbClr val="50A14F"/>
                </a:solidFill>
                <a:effectLst/>
                <a:latin typeface="Menlo"/>
              </a:rPr>
              <a:t>Типы объектов'</a:t>
            </a:r>
            <a:r>
              <a:rPr lang="ru-RU" b="0" i="0" dirty="0">
                <a:solidFill>
                  <a:srgbClr val="383A42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fontsize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=PLOT_LABEL_FONT_SIZE) </a:t>
            </a:r>
            <a:endParaRPr lang="ru-RU" b="0" i="0" dirty="0">
              <a:solidFill>
                <a:srgbClr val="383A42"/>
              </a:solidFill>
              <a:effectLst/>
              <a:latin typeface="Menl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bar =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plt.bar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np.arange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(OBJECT_COUNT),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shapes_type_count_values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 color=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getColors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(OBJECT_COUNT))</a:t>
            </a:r>
            <a:endParaRPr lang="ru-RU" b="0" i="0" dirty="0">
              <a:solidFill>
                <a:srgbClr val="383A42"/>
              </a:solidFill>
              <a:effectLst/>
              <a:latin typeface="Menl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plt.xticks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np.arange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(OBJECT_COUNT),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shapes_type_count_keys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 rotation=</a:t>
            </a:r>
            <a:r>
              <a:rPr lang="en-US" b="0" i="0" dirty="0">
                <a:solidFill>
                  <a:srgbClr val="986801"/>
                </a:solidFill>
                <a:effectLst/>
                <a:latin typeface="Menlo"/>
              </a:rPr>
              <a:t>90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fontsize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=PLOT_LABEL_FONT_SIZE) </a:t>
            </a:r>
            <a:endParaRPr lang="ru-RU" b="0" i="0" dirty="0">
              <a:solidFill>
                <a:srgbClr val="383A42"/>
              </a:solidFill>
              <a:effectLst/>
              <a:latin typeface="Menl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plt.yticks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fontsize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=PLOT_LABEL_FONT_SIZE)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plt.ylabel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ru-RU" b="0" i="0" dirty="0">
                <a:solidFill>
                  <a:srgbClr val="50A14F"/>
                </a:solidFill>
                <a:effectLst/>
                <a:latin typeface="Menlo"/>
              </a:rPr>
              <a:t>Сколько раз видели'</a:t>
            </a:r>
            <a:r>
              <a:rPr lang="ru-RU" b="0" i="0" dirty="0">
                <a:solidFill>
                  <a:srgbClr val="383A42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fontsize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=PLOT_LABEL_FONT_SIZE)</a:t>
            </a:r>
            <a:endParaRPr lang="ru-RU" b="0" i="0" dirty="0">
              <a:solidFill>
                <a:srgbClr val="383A42"/>
              </a:solidFill>
              <a:effectLst/>
              <a:latin typeface="Menl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83A42"/>
                </a:solidFill>
                <a:effectLst/>
                <a:latin typeface="Menlo"/>
              </a:rPr>
              <a:t>plt.show</a:t>
            </a:r>
            <a:r>
              <a:rPr lang="en-US" b="0" i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2194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78" y="1690688"/>
            <a:ext cx="9603388" cy="50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51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 графика мы видим, что больше всего на небе видели просто свет, который в принципе необязательно является НЛО. </a:t>
            </a:r>
          </a:p>
          <a:p>
            <a:r>
              <a:rPr lang="ru-RU" dirty="0"/>
              <a:t>Этому явлению существует внятное объяснение, например, ночное небо отражает свет от прожекторов, как в фильмах про </a:t>
            </a:r>
            <a:r>
              <a:rPr lang="ru-RU" dirty="0" err="1"/>
              <a:t>Бэтмена</a:t>
            </a:r>
            <a:r>
              <a:rPr lang="ru-RU" dirty="0"/>
              <a:t>.</a:t>
            </a:r>
          </a:p>
          <a:p>
            <a:r>
              <a:rPr lang="ru-RU" dirty="0"/>
              <a:t> Также это вполне может быть северным сиянием, которое появляется не только в полярной зоне, но и в средних широтах, а изредка даже и в близи экватора. Вообще атмосфера земли пронизана множеством излучений различной природы, электрическими и магнитными полями.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173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F4C17-FFE4-47AE-B71A-04A2E348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Цель работы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и задачи</a:t>
            </a:r>
            <a:br>
              <a:rPr lang="ru-RU" b="1" i="0" dirty="0">
                <a:solidFill>
                  <a:srgbClr val="2C2C36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86080C-1D0E-4586-916E-B971762A1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6415"/>
            <a:ext cx="8596668" cy="4594947"/>
          </a:xfrm>
        </p:spPr>
        <p:txBody>
          <a:bodyPr>
            <a:normAutofit/>
          </a:bodyPr>
          <a:lstStyle/>
          <a:p>
            <a:pPr algn="l"/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Научиться систематически исследовать структуру, качество и содержательные закономерности в реальных данных с помощью визуализации и статистических методов, а также формулировать гипотезы для последующего моделирования.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Выбрать один </a:t>
            </a: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реальный </a:t>
            </a:r>
            <a:r>
              <a:rPr lang="ru-RU" b="0" i="0" dirty="0" err="1">
                <a:solidFill>
                  <a:srgbClr val="111827"/>
                </a:solidFill>
                <a:effectLst/>
                <a:latin typeface="system-ui"/>
              </a:rPr>
              <a:t>датасет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Провести полный цикл EDA, включая: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Изучение структуры данных (размер, типы признаков, пропущенные значения)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Анализ распределений числовых и категориальных переменных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Выявление выбросов и аномалий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Исследование корреляций и взаимосвязей между признаками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Визуализацию ключевых паттернов и зависимостей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Сформулировать </a:t>
            </a: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не менее трёх содержательных гипотез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о данных (например: «Пассажиры первого класса выживали чаще», «Цена дома сильно зависит от района» и т.п.).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954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69BC3-F8F6-4E42-B5CA-76FED135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выполнения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BE354-8079-4EE7-9D71-4C84AFB8C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66" y="1483567"/>
            <a:ext cx="9991798" cy="537443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Загрузка и первичный осмотр данных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Размер </a:t>
            </a:r>
            <a:r>
              <a:rPr lang="ru-RU" dirty="0" err="1"/>
              <a:t>датасета</a:t>
            </a:r>
            <a:r>
              <a:rPr lang="ru-RU" dirty="0"/>
              <a:t> (число строк и столбцов)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Типы данных (df.info(), </a:t>
            </a:r>
            <a:r>
              <a:rPr lang="ru-RU" dirty="0" err="1"/>
              <a:t>df.dtypes</a:t>
            </a:r>
            <a:r>
              <a:rPr lang="ru-RU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Первые/последние строки (</a:t>
            </a:r>
            <a:r>
              <a:rPr lang="ru-RU" dirty="0" err="1"/>
              <a:t>head</a:t>
            </a:r>
            <a:r>
              <a:rPr lang="ru-RU" dirty="0"/>
              <a:t>(), </a:t>
            </a:r>
            <a:r>
              <a:rPr lang="ru-RU" dirty="0" err="1"/>
              <a:t>tail</a:t>
            </a:r>
            <a:r>
              <a:rPr lang="ru-RU" dirty="0"/>
              <a:t>())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Уникальные значения категориальных признаков</a:t>
            </a:r>
          </a:p>
          <a:p>
            <a:pPr>
              <a:buFont typeface="+mj-lt"/>
              <a:buAutoNum type="arabicPeriod"/>
            </a:pPr>
            <a:r>
              <a:rPr lang="ru-RU" dirty="0"/>
              <a:t>Анализ пропущенных значений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Подсчёт и визуализация пропусков (тепловая карта, гистограмма)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Решение: удалить, заполнить средним/медианой/модой, оставить как признак?</a:t>
            </a:r>
          </a:p>
          <a:p>
            <a:pPr>
              <a:buFont typeface="+mj-lt"/>
              <a:buAutoNum type="arabicPeriod"/>
            </a:pPr>
            <a:r>
              <a:rPr lang="ru-RU" dirty="0"/>
              <a:t>Анализ распределений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Числовые признаки: гистограммы, </a:t>
            </a:r>
            <a:r>
              <a:rPr lang="ru-RU" dirty="0" err="1"/>
              <a:t>boxplots</a:t>
            </a:r>
            <a:r>
              <a:rPr lang="ru-RU" dirty="0"/>
              <a:t>, статистики (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, </a:t>
            </a:r>
            <a:r>
              <a:rPr lang="ru-RU" dirty="0" err="1"/>
              <a:t>min</a:t>
            </a:r>
            <a:r>
              <a:rPr lang="ru-RU" dirty="0"/>
              <a:t>, </a:t>
            </a:r>
            <a:r>
              <a:rPr lang="ru-RU" dirty="0" err="1"/>
              <a:t>max</a:t>
            </a:r>
            <a:r>
              <a:rPr lang="ru-RU" dirty="0"/>
              <a:t>, </a:t>
            </a:r>
            <a:r>
              <a:rPr lang="ru-RU" dirty="0" err="1"/>
              <a:t>quantiles</a:t>
            </a:r>
            <a:r>
              <a:rPr lang="ru-RU" dirty="0"/>
              <a:t>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Категориальные признаки: </a:t>
            </a:r>
            <a:r>
              <a:rPr lang="ru-RU" dirty="0" err="1"/>
              <a:t>countplots</a:t>
            </a:r>
            <a:r>
              <a:rPr lang="ru-RU" dirty="0"/>
              <a:t>, частоты значений</a:t>
            </a:r>
          </a:p>
          <a:p>
            <a:pPr>
              <a:buFont typeface="+mj-lt"/>
              <a:buAutoNum type="arabicPeriod"/>
            </a:pPr>
            <a:r>
              <a:rPr lang="ru-RU" dirty="0"/>
              <a:t>Выявление выбросов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Метод </a:t>
            </a:r>
            <a:r>
              <a:rPr lang="ru-RU" dirty="0" err="1"/>
              <a:t>межквартильного</a:t>
            </a:r>
            <a:r>
              <a:rPr lang="ru-RU" dirty="0"/>
              <a:t> размаха (IQR)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Визуализация через </a:t>
            </a:r>
            <a:r>
              <a:rPr lang="ru-RU" dirty="0" err="1"/>
              <a:t>boxplot</a:t>
            </a:r>
            <a:r>
              <a:rPr lang="ru-RU" dirty="0"/>
              <a:t> или </a:t>
            </a:r>
            <a:r>
              <a:rPr lang="ru-RU" dirty="0" err="1"/>
              <a:t>scatterplot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555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78E61-537A-4360-A056-ADA3B2F5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выполнения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4A4CA-144A-45D5-9C17-8349B47DA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9665"/>
            <a:ext cx="9381066" cy="5070764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Анализ взаимосвязей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Корреляционная матрица (для числовых признаков, </a:t>
            </a:r>
            <a:r>
              <a:rPr lang="ru-RU" dirty="0" err="1"/>
              <a:t>heatmap</a:t>
            </a:r>
            <a:r>
              <a:rPr lang="ru-RU" dirty="0"/>
              <a:t>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Сравнение распределений по категориям (например, распределение возраста выживших - погибших)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Сводные таблицы (</a:t>
            </a:r>
            <a:r>
              <a:rPr lang="ru-RU" dirty="0" err="1"/>
              <a:t>pd.crosstab</a:t>
            </a:r>
            <a:r>
              <a:rPr lang="ru-RU" dirty="0"/>
              <a:t>, </a:t>
            </a:r>
            <a:r>
              <a:rPr lang="ru-RU" dirty="0" err="1"/>
              <a:t>groupby</a:t>
            </a:r>
            <a:r>
              <a:rPr lang="ru-RU" dirty="0"/>
              <a:t>)</a:t>
            </a:r>
          </a:p>
          <a:p>
            <a:pPr>
              <a:buFont typeface="+mj-lt"/>
              <a:buAutoNum type="arabicPeriod"/>
            </a:pPr>
            <a:r>
              <a:rPr lang="ru-RU" dirty="0"/>
              <a:t>Формулировка гипотез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На основе наблюдений: «Чем выше уровень образования, тем выше доход»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Гипотезы должны быть проверяемыми на следующих этапах курса (например, в лабораторной по ML)</a:t>
            </a:r>
          </a:p>
          <a:p>
            <a:pPr>
              <a:buFont typeface="+mj-lt"/>
              <a:buAutoNum type="arabicPeriod"/>
            </a:pPr>
            <a:r>
              <a:rPr lang="ru-RU" dirty="0"/>
              <a:t>Выводы и рекомендации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Какие признаки наиболее информативны?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Какие признаки, возможно, стоит преобразовать или удалить?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Какие шаги предпринять перед построением модели?</a:t>
            </a:r>
          </a:p>
        </p:txBody>
      </p:sp>
    </p:spTree>
    <p:extLst>
      <p:ext uri="{BB962C8B-B14F-4D97-AF65-F5344CB8AC3E}">
        <p14:creationId xmlns:p14="http://schemas.microsoft.com/office/powerpoint/2010/main" val="2762955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B3896-FA54-49CF-BC2B-C2C2CF87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оценки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274BE-6906-43F2-8383-9E4984C51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Полный охват этапов EDA (структура, пропуски, распределения, выбросы, зависимости)</a:t>
            </a:r>
          </a:p>
          <a:p>
            <a:r>
              <a:rPr lang="ru-RU" dirty="0"/>
              <a:t> Качественные и информативные визуализации (подписи, заголовки, понятные оси)</a:t>
            </a:r>
          </a:p>
          <a:p>
            <a:r>
              <a:rPr lang="ru-RU" dirty="0"/>
              <a:t> Корректная интерпретация графиков и статистик</a:t>
            </a:r>
          </a:p>
          <a:p>
            <a:r>
              <a:rPr lang="ru-RU" dirty="0"/>
              <a:t> Формулировка ≥3 содержательных и проверяемых гипотез</a:t>
            </a:r>
          </a:p>
          <a:p>
            <a:r>
              <a:rPr lang="ru-RU" dirty="0"/>
              <a:t> Логичная структура, читаемость кода и пояснений</a:t>
            </a:r>
          </a:p>
          <a:p>
            <a:r>
              <a:rPr lang="ru-RU" dirty="0"/>
              <a:t> Отсутствие технических ошибок (например, утечки данных, неправильных типов)</a:t>
            </a:r>
          </a:p>
        </p:txBody>
      </p:sp>
    </p:spTree>
    <p:extLst>
      <p:ext uri="{BB962C8B-B14F-4D97-AF65-F5344CB8AC3E}">
        <p14:creationId xmlns:p14="http://schemas.microsoft.com/office/powerpoint/2010/main" val="809956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10122-0B1B-4AE5-9977-DF81B377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A5DF0-4335-4DC6-9F1F-1427E1609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стремитесь «украсить» все графики — важна информативность, а не количество.</a:t>
            </a:r>
          </a:p>
          <a:p>
            <a:r>
              <a:rPr lang="ru-RU" dirty="0"/>
              <a:t>Избегайте вывода «сырых» таблиц — заменяйте их графиками или сводками.</a:t>
            </a:r>
          </a:p>
          <a:p>
            <a:r>
              <a:rPr lang="ru-RU" dirty="0"/>
              <a:t>При анализе категориальных признаков с большим числом уникальных значений (например, «город») группируйте редкие категории в «</a:t>
            </a:r>
            <a:r>
              <a:rPr lang="ru-RU" dirty="0" err="1"/>
              <a:t>Other</a:t>
            </a:r>
            <a:r>
              <a:rPr lang="ru-RU" dirty="0"/>
              <a:t>».</a:t>
            </a:r>
          </a:p>
          <a:p>
            <a:r>
              <a:rPr lang="ru-RU" dirty="0"/>
              <a:t>Если </a:t>
            </a:r>
            <a:r>
              <a:rPr lang="ru-RU" dirty="0" err="1"/>
              <a:t>датасет</a:t>
            </a:r>
            <a:r>
              <a:rPr lang="ru-RU" dirty="0"/>
              <a:t> большой — работайте с выборкой или используйте эффективные методы (</a:t>
            </a:r>
            <a:r>
              <a:rPr lang="ru-RU" dirty="0" err="1"/>
              <a:t>df.sample</a:t>
            </a:r>
            <a:r>
              <a:rPr lang="ru-RU" dirty="0"/>
              <a:t>()).</a:t>
            </a:r>
          </a:p>
          <a:p>
            <a:r>
              <a:rPr lang="ru-RU" dirty="0"/>
              <a:t>Всегда задавайте себе вопрос: «Что это говорит о данных?», а не просто «Построил график».</a:t>
            </a:r>
          </a:p>
        </p:txBody>
      </p:sp>
    </p:spTree>
    <p:extLst>
      <p:ext uri="{BB962C8B-B14F-4D97-AF65-F5344CB8AC3E}">
        <p14:creationId xmlns:p14="http://schemas.microsoft.com/office/powerpoint/2010/main" val="2893346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https://www.kaggle.com/</a:t>
            </a:r>
            <a:r>
              <a:rPr lang="ru-RU" dirty="0"/>
              <a:t> - наборы </a:t>
            </a:r>
            <a:r>
              <a:rPr lang="ru-RU" dirty="0" err="1"/>
              <a:t>датасетов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https://matplotlib.org/</a:t>
            </a:r>
            <a:r>
              <a:rPr lang="ru-RU" dirty="0"/>
              <a:t>  - библиотека визуализации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4"/>
              </a:rPr>
              <a:t>https://pandas.pydata.org/</a:t>
            </a:r>
            <a:r>
              <a:rPr lang="ru-RU" dirty="0"/>
              <a:t> - библиотека предварительной обработки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5"/>
              </a:rPr>
              <a:t>https://scikit-learn.org/stable/</a:t>
            </a:r>
            <a:r>
              <a:rPr lang="ru-RU" dirty="0"/>
              <a:t> - библиотека алгоритмов машинного обучения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6"/>
              </a:rPr>
              <a:t>https://colab.google/</a:t>
            </a:r>
            <a:r>
              <a:rPr lang="ru-RU" dirty="0"/>
              <a:t> - среда для </a:t>
            </a:r>
            <a:r>
              <a:rPr lang="ru-RU"/>
              <a:t>выполнения анализа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199348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5757</TotalTime>
  <Words>1876</Words>
  <Application>Microsoft Office PowerPoint</Application>
  <PresentationFormat>Широкоэкранный</PresentationFormat>
  <Paragraphs>151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40" baseType="lpstr">
      <vt:lpstr>Arial</vt:lpstr>
      <vt:lpstr>Calibri</vt:lpstr>
      <vt:lpstr>Courier New</vt:lpstr>
      <vt:lpstr>inherit</vt:lpstr>
      <vt:lpstr>Menlo</vt:lpstr>
      <vt:lpstr>SB Sans Text Mono</vt:lpstr>
      <vt:lpstr>system-ui</vt:lpstr>
      <vt:lpstr>Trebuchet MS</vt:lpstr>
      <vt:lpstr>Wingdings 3</vt:lpstr>
      <vt:lpstr>Грань</vt:lpstr>
      <vt:lpstr>       Exploratory DataAnalysis (EDA)  Разведочный анализ данных. </vt:lpstr>
      <vt:lpstr>Разведочный анализ данных (EDA) — один из первых и определяющих шагов проекта науки о данных, который приводит в движение весь проект. </vt:lpstr>
      <vt:lpstr>Презентация PowerPoint</vt:lpstr>
      <vt:lpstr>Презентация PowerPoint</vt:lpstr>
      <vt:lpstr>Одномерный анализ</vt:lpstr>
      <vt:lpstr>Двумерный анализ</vt:lpstr>
      <vt:lpstr>Оценка и анализ типов данных/ Чистка и заполнение пропусков</vt:lpstr>
      <vt:lpstr>Одномерный анализ</vt:lpstr>
      <vt:lpstr>Диаграмма рассеивания</vt:lpstr>
      <vt:lpstr>Библиотеки </vt:lpstr>
      <vt:lpstr>Презентация PowerPoint</vt:lpstr>
      <vt:lpstr>Презентация PowerPoint</vt:lpstr>
      <vt:lpstr>df.info() </vt:lpstr>
      <vt:lpstr>Команда df.describe() в библиотеке Pandas используется для получения сводной статистики числовых данных в DataFrame. Эта команда возвращает таблицу, содержащую основную статистику по каждому числовому столбцу, такую как среднее значение, медиана, минимальное и максимальное значения, стандартное отклонение и квартили. Вот как она работает: df: это объект DataFrame, содержащий ваши данные. .describe(): метод, который рассчитывает и возвращает основные статистические показатели для каждого числового столбца.  </vt:lpstr>
      <vt:lpstr>Презентация PowerPoint</vt:lpstr>
      <vt:lpstr>Презентация PowerPoint</vt:lpstr>
      <vt:lpstr>таблица с наблюдениями</vt:lpstr>
      <vt:lpstr>https://matplotlib.org/users/pyplot_tutorial.html</vt:lpstr>
      <vt:lpstr>Презентация PowerPoint</vt:lpstr>
      <vt:lpstr>Частота появления по месяцам</vt:lpstr>
      <vt:lpstr>Частота появления по месяцам</vt:lpstr>
      <vt:lpstr>Презентация PowerPoint</vt:lpstr>
      <vt:lpstr>Презентация PowerPoint</vt:lpstr>
      <vt:lpstr>Презентация PowerPoint</vt:lpstr>
      <vt:lpstr>Цель работы и задачи </vt:lpstr>
      <vt:lpstr>Этапы выполнения </vt:lpstr>
      <vt:lpstr>Этапы выполнения 2</vt:lpstr>
      <vt:lpstr>Критерии оценки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DataAnalysis (EDA)  Разведочный анализ данных.</dc:title>
  <dc:creator>Alex</dc:creator>
  <cp:lastModifiedBy>Массель Алексей Геннадьевич</cp:lastModifiedBy>
  <cp:revision>23</cp:revision>
  <dcterms:created xsi:type="dcterms:W3CDTF">2023-03-03T04:58:46Z</dcterms:created>
  <dcterms:modified xsi:type="dcterms:W3CDTF">2025-10-24T02:06:28Z</dcterms:modified>
</cp:coreProperties>
</file>